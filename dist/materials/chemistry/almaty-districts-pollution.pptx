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</c:v>
                </c:pt>
              </c:strCache>
            </c:strRef>
          </c:tx>
          <c:spPr>
            <a:solidFill>
              <a:srgbClr val="FF5B5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Түрксіб</c:v>
                  </c:pt>
                  <c:pt idx="1">
                    <c:v>Жетісу</c:v>
                  </c:pt>
                  <c:pt idx="2">
                    <c:v>Алатау</c:v>
                  </c:pt>
                  <c:pt idx="3">
                    <c:v>Алмалы</c:v>
                  </c:pt>
                  <c:pt idx="4">
                    <c:v>Наурызбай</c:v>
                  </c:pt>
                  <c:pt idx="5">
                    <c:v>Әуезов</c:v>
                  </c:pt>
                  <c:pt idx="6">
                    <c:v>Медеу</c:v>
                  </c:pt>
                  <c:pt idx="7">
                    <c:v>Бостандық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46.8</c:v>
                </c:pt>
                <c:pt idx="1">
                  <c:v>37.9</c:v>
                </c:pt>
                <c:pt idx="2">
                  <c:v>37.7</c:v>
                </c:pt>
                <c:pt idx="3">
                  <c:v>30.9</c:v>
                </c:pt>
                <c:pt idx="4">
                  <c:v>27.1</c:v>
                </c:pt>
                <c:pt idx="5">
                  <c:v>25.8</c:v>
                </c:pt>
                <c:pt idx="6">
                  <c:v>25.8</c:v>
                </c:pt>
                <c:pt idx="7">
                  <c:v>22.1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4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 w="12700" cap="flat">
          <a:solidFill>
            <a:srgbClr val="07131A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</c:v>
                </c:pt>
              </c:strCache>
            </c:strRef>
          </c:tx>
          <c:spPr>
            <a:solidFill>
              <a:srgbClr val="FF5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ЖЭО-2</c:v>
                  </c:pt>
                  <c:pt idx="1">
                    <c:v>ЖЭО-3</c:v>
                  </c:pt>
                  <c:pt idx="2">
                    <c:v>ЖЭО-1</c:v>
                  </c:pt>
                  <c:pt idx="3">
                    <c:v>Батыс жылу кешені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36548.334</c:v>
                </c:pt>
                <c:pt idx="1">
                  <c:v>9780.602</c:v>
                </c:pt>
                <c:pt idx="2">
                  <c:v>783.795</c:v>
                </c:pt>
                <c:pt idx="3">
                  <c:v>214.709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4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noFill/>
        <a:ln w="12700" cap="flat">
          <a:solidFill>
            <a:srgbClr val="07131A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1D0AA"/>
          </a:solidFill>
          <a:ln w="12700">
            <a:solidFill>
              <a:srgbClr val="31D0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92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ALMATY AIR • 2025–2026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39ED099B-ED8F-41CD-861D-1B332440853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7131A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685800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31D0AA">
              <a:alpha val="90000"/>
            </a:srgbClr>
          </a:solidFill>
          <a:ln w="12700">
            <a:solidFill>
              <a:srgbClr val="31D0A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74066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C"/>
                </a:solidFill>
              </a:rPr>
              <a:t>ЗЕРТТЕУ • 2025–2026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5669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AFC"/>
                </a:solidFill>
              </a:rPr>
              <a:t>АЛМАТЫ ҚАЛАСЫНЫҢ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FAFC"/>
                </a:solidFill>
              </a:rPr>
              <a:t>АУДАНДАРЫНДАҒЫ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FAFC"/>
                </a:solidFill>
              </a:rPr>
              <a:t>АУАНЫҢ ЛАСТАНУ ДЕҢГЕЙІ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58368" y="33101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6EB"/>
                </a:solidFill>
              </a:rPr>
              <a:t>PM2.5 • ЖЭО шығарындылары • көлік • шешімдер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3840480"/>
            <a:ext cx="4389120" cy="0"/>
          </a:xfrm>
          <a:prstGeom prst="line">
            <a:avLst/>
          </a:prstGeom>
          <a:noFill/>
          <a:ln w="25400">
            <a:solidFill>
              <a:srgbClr val="31D0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416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D0AA"/>
                </a:solidFill>
              </a:rPr>
              <a:t>Ластанудан таза болашаққа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" y="5897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Алматы,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Бір қарағанда: Алматы ауасының негізгі сигналы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Әртүрлі мониторинг жүйелерінің деректері бір шкала емес, бірақ ортақ мәселені көрсетеді.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240280" cy="1051560"/>
          </a:xfrm>
          <a:prstGeom prst="roundRect">
            <a:avLst>
              <a:gd name="adj" fmla="val 12174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0664" y="154533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5B5B"/>
                </a:solidFill>
              </a:rPr>
              <a:t>46,8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0664" y="20208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AC2"/>
                </a:solidFill>
              </a:rPr>
              <a:t>Түрксіб PM2.5, мкг/м³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2240280" cy="1051560"/>
          </a:xfrm>
          <a:prstGeom prst="roundRect">
            <a:avLst>
              <a:gd name="adj" fmla="val 12174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18104" y="154533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B84D"/>
                </a:solidFill>
              </a:rPr>
              <a:t>17,5%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118104" y="20208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AC2"/>
                </a:solidFill>
              </a:rPr>
              <a:t>2025 ж. магистраль сынамаларында ШРК асуы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49240" y="1417320"/>
            <a:ext cx="2240280" cy="1051560"/>
          </a:xfrm>
          <a:prstGeom prst="roundRect">
            <a:avLst>
              <a:gd name="adj" fmla="val 12174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95544" y="154533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5B5B"/>
                </a:solidFill>
              </a:rPr>
              <a:t>36 548 т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495544" y="20208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AC2"/>
                </a:solidFill>
              </a:rPr>
              <a:t>ЖЭО-2 ластаушы заттары, 2025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26680" y="1417320"/>
            <a:ext cx="2240280" cy="1051560"/>
          </a:xfrm>
          <a:prstGeom prst="roundRect">
            <a:avLst>
              <a:gd name="adj" fmla="val 12174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72984" y="154533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BD7FF"/>
                </a:solidFill>
              </a:rPr>
              <a:t>≈60%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872984" y="20208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AC2"/>
                </a:solidFill>
              </a:rPr>
              <a:t>Қала эмиссиясындағы көліктің бағаланған үлесі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2788920"/>
            <a:ext cx="10972800" cy="2971800"/>
          </a:xfrm>
          <a:prstGeom prst="roundRect">
            <a:avLst>
              <a:gd name="adj" fmla="val 4308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AFC"/>
                </a:solidFill>
              </a:rPr>
              <a:t>Негізгі қорытынды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6112" y="3611880"/>
            <a:ext cx="201168" cy="201168"/>
          </a:xfrm>
          <a:prstGeom prst="ellipse">
            <a:avLst/>
          </a:prstGeom>
          <a:solidFill>
            <a:srgbClr val="FF5B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58444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AFC"/>
                </a:solidFill>
              </a:rPr>
              <a:t>Солтүстік және солтүстік-батыс аудандарда PM2.5 жоғарырақ.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358444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Көмір/жеке жылыту + көлік + өнеркәсіп + инверсия әсерлері қабаттасады.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" y="4270248"/>
            <a:ext cx="201168" cy="20116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424281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AFC"/>
                </a:solidFill>
              </a:rPr>
              <a:t>ЖЭО-2 — үш негізгі ЖЭО ішіндегі ең ірі валдық эмиссия көзі.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424281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ЖЭО-2/3 газдандыру PM, SO₂ және күл жүктемесін күрт төмендетеді.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" y="4928616"/>
            <a:ext cx="201168" cy="201168"/>
          </a:xfrm>
          <a:prstGeom prst="ellipse">
            <a:avLst/>
          </a:prstGeom>
          <a:solidFill>
            <a:srgbClr val="31D0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490118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AFC"/>
                </a:solidFill>
              </a:rPr>
              <a:t>Көлік — бүкіл қала үшін шешуші фактор.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490118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Электр қоғамдық көлік, LEZ, техбақылау және кептелісті азайту қажет.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8 аудан: PM2.5 рейтингі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2025 жылғы AAI сенсорлық мониторингі. ДДҰ жылдық ұсынымы: 5 мкг/м³.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25880"/>
          <a:ext cx="67665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325880"/>
            <a:ext cx="3794760" cy="4892040"/>
          </a:xfrm>
          <a:prstGeom prst="roundRect">
            <a:avLst>
              <a:gd name="adj" fmla="val 3373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AFC"/>
                </a:solidFill>
              </a:rPr>
              <a:t>Не байқалады?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65008" y="22402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B5B"/>
                </a:solidFill>
              </a:rPr>
              <a:t>Түрксіб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89720" y="22402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9,4× ДДҰ ұсынымынан жоғары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65008" y="2971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4D"/>
                </a:solidFill>
              </a:rPr>
              <a:t>Жетісу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89720" y="2971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7,6×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65008" y="3703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4D"/>
                </a:solidFill>
              </a:rPr>
              <a:t>Алатау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89720" y="37033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7,5×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65008" y="44348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D0AA"/>
                </a:solidFill>
              </a:rPr>
              <a:t>Бостандық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89720" y="4434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4,4× — қала ішіндегі ең төмен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65008" y="5440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A0AA"/>
                </a:solidFill>
              </a:rPr>
              <a:t>Ескерту: бұл — сенсорлық аудандық рейтинг; ресми Қазгидромет индексімен тікелей теңестіруге болмайды.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Ластанудың кеңістіктік бейнесі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Солтүстік/төменгі қалада бірнеше эмиссия көзі мен инверсия әсері қабаттасады.</a:t>
            </a:r>
            <a:endParaRPr lang="en-US" sz="1050" dirty="0"/>
          </a:p>
        </p:txBody>
      </p:sp>
      <p:pic>
        <p:nvPicPr>
          <p:cNvPr id="4" name="Image 0" descr="/mnt/data/B0685120-2D8A-4CFF-98E9-A9674ADEAE1C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708660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234440"/>
            <a:ext cx="3611880" cy="5074920"/>
          </a:xfrm>
          <a:prstGeom prst="roundRect">
            <a:avLst>
              <a:gd name="adj" fmla="val 3544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47888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AFC"/>
                </a:solidFill>
              </a:rPr>
              <a:t>Қауіп факторлары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47888" y="20848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4D"/>
                </a:solidFill>
              </a:rPr>
              <a:t>Түрксіб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372600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7BAC2"/>
                </a:solidFill>
              </a:rPr>
              <a:t>көлік • теміржол/өнеркәсіп • жеке жылыту • ЖЭО-3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8247888" y="28163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4D"/>
                </a:solidFill>
              </a:rPr>
              <a:t>Жетісу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37260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7BAC2"/>
                </a:solidFill>
              </a:rPr>
              <a:t>өнеркәсіп • көлік • жеке сектор • төмен рельеф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8247888" y="3547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4D"/>
                </a:solidFill>
              </a:rPr>
              <a:t>Алатау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7260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7BAC2"/>
                </a:solidFill>
              </a:rPr>
              <a:t>жеке жылыту • құрылыс шаңы • ЖЭО-2 фондық ықпалы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247888" y="42793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D0AA"/>
                </a:solidFill>
              </a:rPr>
              <a:t>Алмалы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7260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7BAC2"/>
                </a:solidFill>
              </a:rPr>
              <a:t>кептеліс • көше каньондары • NO₂/CO/PM2.5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8247888" y="50109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D0AA"/>
                </a:solidFill>
              </a:rPr>
              <a:t>Медеу/Бостандық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372600" y="4983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7BAC2"/>
                </a:solidFill>
              </a:rPr>
              <a:t>желдетілу жақсырақ, бірақ магистраль әсері сақталады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Алматы ауасын не ластайды?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Қалалық ауаға стационарлық және мобильді көздер қатар әсер етеді.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487168" cy="4389120"/>
          </a:xfrm>
          <a:prstGeom prst="roundRect">
            <a:avLst>
              <a:gd name="adj" fmla="val 5147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64208"/>
            <a:ext cx="384048" cy="384048"/>
          </a:xfrm>
          <a:prstGeom prst="ellipse">
            <a:avLst/>
          </a:prstGeom>
          <a:solidFill>
            <a:srgbClr val="4B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40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АВТОКӨЛІК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D7FF"/>
                </a:solidFill>
              </a:rPr>
              <a:t>NO₂ • CO • PM2.5 • VOC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35204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Кептеліс, дизель/бензин, тозған автопарк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4983480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4BD7FF">
              <a:alpha val="90000"/>
            </a:srgbClr>
          </a:solidFill>
          <a:ln w="12700">
            <a:solidFill>
              <a:srgbClr val="4BD7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503834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C"/>
                </a:solidFill>
              </a:rPr>
              <a:t>≈60% қала эмиссиясы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55848" y="1417320"/>
            <a:ext cx="2487168" cy="4389120"/>
          </a:xfrm>
          <a:prstGeom prst="roundRect">
            <a:avLst>
              <a:gd name="adj" fmla="val 5147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64208"/>
            <a:ext cx="384048" cy="384048"/>
          </a:xfrm>
          <a:prstGeom prst="ellipse">
            <a:avLst/>
          </a:prstGeom>
          <a:solidFill>
            <a:srgbClr val="FF5B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240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ЖЭО + ЭНЕРГЕТИКА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B5B"/>
                </a:solidFill>
              </a:rPr>
              <a:t>PM • SO₂ • NOₓ • CO₂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35204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ЖЭО-2/3: көмір; ЖЭО-1: газ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4983480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FF5B5B">
              <a:alpha val="90000"/>
            </a:srgbClr>
          </a:solidFill>
          <a:ln w="12700">
            <a:solidFill>
              <a:srgbClr val="FF5B5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503834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C"/>
                </a:solidFill>
              </a:rPr>
              <a:t>Көмір күлділігі жоғары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17336" y="1417320"/>
            <a:ext cx="2487168" cy="4389120"/>
          </a:xfrm>
          <a:prstGeom prst="roundRect">
            <a:avLst>
              <a:gd name="adj" fmla="val 5147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81928" y="1664208"/>
            <a:ext cx="384048" cy="38404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2240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ЖЕКЕ СЕКТОР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81928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4D"/>
                </a:solidFill>
              </a:rPr>
              <a:t>PM2.5 • CO • күйе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1928" y="35204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Қатты отынмен жылыту, қысқы маусым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81928" y="4983480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FFB84D">
              <a:alpha val="90000"/>
            </a:srgbClr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503834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C"/>
                </a:solidFill>
              </a:rPr>
              <a:t>Төменгі аудандарда маңызды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878824" y="1417320"/>
            <a:ext cx="2487168" cy="4389120"/>
          </a:xfrm>
          <a:prstGeom prst="roundRect">
            <a:avLst>
              <a:gd name="adj" fmla="val 5147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43416" y="1664208"/>
            <a:ext cx="384048" cy="384048"/>
          </a:xfrm>
          <a:prstGeom prst="ellipse">
            <a:avLst/>
          </a:prstGeom>
          <a:solidFill>
            <a:srgbClr val="F7E0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43416" y="2240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ШАҢ / ҚҰРЫЛЫС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43416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E05B"/>
                </a:solidFill>
              </a:rPr>
              <a:t>PM10 • қайта көтерілетін шаң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43416" y="35204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Жол, құрылыс, ашық топырақ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43416" y="4983480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F7E05B">
              <a:alpha val="90000"/>
            </a:srgbClr>
          </a:solidFill>
          <a:ln w="12700">
            <a:solidFill>
              <a:srgbClr val="F7E05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16568" y="503834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C"/>
                </a:solidFill>
              </a:rPr>
              <a:t>Жергілікті hotspot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ЖЭО-ларда не жағылады?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2025 жылғы отын құрылымы және жану нәтижесінде пайда болатын негізгі өнімдер.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29000" cy="4434840"/>
          </a:xfrm>
          <a:prstGeom prst="roundRect">
            <a:avLst>
              <a:gd name="adj" fmla="val 3733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D0AA"/>
                </a:solidFill>
              </a:rPr>
              <a:t>ЖЭО-1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AFC"/>
                </a:solidFill>
              </a:rPr>
              <a:t>ТАБИҒИ ГАЗ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AC2"/>
                </a:solidFill>
              </a:rPr>
              <a:t>Ауаға: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D0AA"/>
                </a:solidFill>
              </a:rPr>
              <a:t>NOₓ • CO • CO₂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2025 ж. мазут жағылмаған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429000" cy="4434840"/>
          </a:xfrm>
          <a:prstGeom prst="roundRect">
            <a:avLst>
              <a:gd name="adj" fmla="val 3733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B5B"/>
                </a:solidFill>
              </a:rPr>
              <a:t>ЖЭО-2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09160" y="2267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AFC"/>
                </a:solidFill>
              </a:rPr>
              <a:t>ЕКІБАСТҰЗ КӨМІРІ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3017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AC2"/>
                </a:solidFill>
              </a:rPr>
              <a:t>Ауаға: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B5B"/>
                </a:solidFill>
              </a:rPr>
              <a:t>Күл/PM • SO₂ • NOₓ • CO • CO₂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Мазут — тұтатқыш отын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4983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4D"/>
                </a:solidFill>
              </a:rPr>
              <a:t>Күлділік ≈ 39–41%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75320" y="1417320"/>
            <a:ext cx="3429000" cy="4434840"/>
          </a:xfrm>
          <a:prstGeom prst="roundRect">
            <a:avLst>
              <a:gd name="adj" fmla="val 3733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39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84D"/>
                </a:solidFill>
              </a:rPr>
              <a:t>ЖЭО-3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03920" y="2267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AFC"/>
                </a:solidFill>
              </a:rPr>
              <a:t>ЕКІБАСТҰЗ КӨМІРІ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0" y="3017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AC2"/>
                </a:solidFill>
              </a:rPr>
              <a:t>Ауаға: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4D"/>
                </a:solidFill>
              </a:rPr>
              <a:t>Күл/PM • SO₂ • NOₓ • CO • CO₂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Мазут — тұтатқыш отын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4983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4D"/>
                </a:solidFill>
              </a:rPr>
              <a:t>Күлділік ≈ 39–41%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ЖЭО шығарындылары: нақты масштаб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2025 жылғы валдық ластаушы заттар, тонна. Дерек: АлЭС.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41732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657600" cy="4663440"/>
          </a:xfrm>
          <a:prstGeom prst="roundRect">
            <a:avLst>
              <a:gd name="adj" fmla="val 3500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3816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B5B"/>
                </a:solidFill>
              </a:rPr>
              <a:t>ЖЭО-2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3816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AFC"/>
                </a:solidFill>
              </a:rPr>
              <a:t>≈ 78%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13816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AC2"/>
                </a:solidFill>
              </a:rPr>
              <a:t>осы 4 жылу көзінің 2025 жылғы валдық ластаушы заттарының ішінде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3886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D0AA"/>
                </a:solidFill>
              </a:rPr>
              <a:t>Газдандырудың әсері ең алдымен осы нысанда сезіледі.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Көмір жанғанда не қалады?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ЖЭО-2/3 үшін ауаға шығарындылармен қатар күл-шлак ағыны да маңызды.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874520" cy="2103120"/>
          </a:xfrm>
          <a:prstGeom prst="roundRect">
            <a:avLst>
              <a:gd name="adj" fmla="val 6829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4D"/>
                </a:solidFill>
              </a:rPr>
              <a:t>КӨМІР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Екібастұз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күлділігі ≈39–41%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79192" y="2560320"/>
            <a:ext cx="502920" cy="548640"/>
          </a:xfrm>
          <a:prstGeom prst="chevron">
            <a:avLst/>
          </a:prstGeom>
          <a:solidFill>
            <a:srgbClr val="31D0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1828800"/>
            <a:ext cx="1874520" cy="2103120"/>
          </a:xfrm>
          <a:prstGeom prst="roundRect">
            <a:avLst>
              <a:gd name="adj" fmla="val 6829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B5B"/>
                </a:solidFill>
              </a:rPr>
              <a:t>ЖАНУ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9272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жоғары температура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энергия өндіру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48072" y="2560320"/>
            <a:ext cx="502920" cy="548640"/>
          </a:xfrm>
          <a:prstGeom prst="chevron">
            <a:avLst/>
          </a:prstGeom>
          <a:solidFill>
            <a:srgbClr val="31D0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1828800"/>
            <a:ext cx="1874520" cy="2103120"/>
          </a:xfrm>
          <a:prstGeom prst="roundRect">
            <a:avLst>
              <a:gd name="adj" fmla="val 6829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88152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D7FF"/>
                </a:solidFill>
              </a:rPr>
              <a:t>АУАҒА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88152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PM • SO₂ • NOₓ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CO • CO₂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16952" y="2560320"/>
            <a:ext cx="502920" cy="548640"/>
          </a:xfrm>
          <a:prstGeom prst="chevron">
            <a:avLst/>
          </a:prstGeom>
          <a:solidFill>
            <a:srgbClr val="31D0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828800"/>
            <a:ext cx="1874520" cy="2103120"/>
          </a:xfrm>
          <a:prstGeom prst="roundRect">
            <a:avLst>
              <a:gd name="adj" fmla="val 6829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57032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E05B"/>
                </a:solidFill>
              </a:rPr>
              <a:t>ҚАТТЫ ҚАЛДЫҚ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57032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күл-шлак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үйінділері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4617720"/>
            <a:ext cx="2743200" cy="292608"/>
          </a:xfrm>
          <a:prstGeom prst="roundRect">
            <a:avLst>
              <a:gd name="adj" fmla="val 37500"/>
            </a:avLst>
          </a:prstGeom>
          <a:solidFill>
            <a:srgbClr val="FF5B5B">
              <a:alpha val="90000"/>
            </a:srgbClr>
          </a:solidFill>
          <a:ln w="12700">
            <a:solidFill>
              <a:srgbClr val="FF5B5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3512" y="467258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C"/>
                </a:solidFill>
              </a:rPr>
              <a:t>ЖЭО-2: 1 313 879 т күл-шлак (2024)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46520" y="4617720"/>
            <a:ext cx="2743200" cy="292608"/>
          </a:xfrm>
          <a:prstGeom prst="roundRect">
            <a:avLst>
              <a:gd name="adj" fmla="val 37500"/>
            </a:avLst>
          </a:prstGeom>
          <a:solidFill>
            <a:srgbClr val="FFB84D">
              <a:alpha val="90000"/>
            </a:srgbClr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67258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C"/>
                </a:solidFill>
              </a:rPr>
              <a:t>ЖЭО-3: 318 240 т күл-шлак (2024)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28800" y="5532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D0AA"/>
                </a:solidFill>
              </a:rPr>
              <a:t>Шешім: жабық тасымалдау • шаң басу • қайта өңдеу • рекультивация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Көмір мен мазутты немен алмастыруға болады?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Бір ғана технология емес — жылу, электр және сұранысты қатар өзгерту керек.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35640" cy="914400"/>
          </a:xfrm>
          <a:prstGeom prst="roundRect">
            <a:avLst>
              <a:gd name="adj" fmla="val 14000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31D0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00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1A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Табиғи газ + ПГУ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69080" y="158191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Күл мен SO₂ күрт азаяды; PM төмендейді. NOₓ үшін low-NOₓ қажет.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10835640" cy="914400"/>
          </a:xfrm>
          <a:prstGeom prst="roundRect">
            <a:avLst>
              <a:gd name="adj" fmla="val 14000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4B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43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1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Электрлендіру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080" y="272491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Жылу сорғылары, электр қазандықтары, ғимараттардың энергия тиімділігі.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10835640" cy="914400"/>
          </a:xfrm>
          <a:prstGeom prst="roundRect">
            <a:avLst>
              <a:gd name="adj" fmla="val 14000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886200"/>
            <a:ext cx="502920" cy="502920"/>
          </a:xfrm>
          <a:prstGeom prst="ellipse">
            <a:avLst/>
          </a:prstGeom>
          <a:solidFill>
            <a:srgbClr val="F7E0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86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1A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886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Күн + жел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69080" y="386791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Электр жүйесіндегі көмір/газ станцияларының жұмыс уақытын қысқартады.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835640" cy="914400"/>
          </a:xfrm>
          <a:prstGeom prst="roundRect">
            <a:avLst>
              <a:gd name="adj" fmla="val 14000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29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1A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5029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Сақтау + басқару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501091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Жылу аккумуляторы, желі жаңғырту, smart-control — тұрақтылық үшін.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Аудандарды қалай «тазартамыз»?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Тікелей ауаны сүзуден гөрі эмиссия көзін азайту — ең тиімді стратегия.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749808"/>
          </a:xfrm>
          <a:prstGeom prst="roundRect">
            <a:avLst>
              <a:gd name="adj" fmla="val 17073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B5B"/>
                </a:solidFill>
              </a:rPr>
              <a:t>Түрксіб • Жетісу • Алатау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546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AFC"/>
                </a:solidFill>
              </a:rPr>
              <a:t>Көмір түтіні / PM2.5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4920" y="14721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ЖЭО-2/3 газдандыру + жеке секторды газ/электрге көшіру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10972800" cy="749808"/>
          </a:xfrm>
          <a:prstGeom prst="roundRect">
            <a:avLst>
              <a:gd name="adj" fmla="val 17073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D7FF"/>
                </a:solidFill>
              </a:rPr>
              <a:t>Алмалы • Түрксіб • Жетісу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54680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AFC"/>
                </a:solidFill>
              </a:rPr>
              <a:t>Көлік NO₂/CO/PM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24048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Электр қоғамдық көлік + LEZ + техбақылау + кептелісті азайту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191256"/>
            <a:ext cx="10972800" cy="749808"/>
          </a:xfrm>
          <a:prstGeom prst="roundRect">
            <a:avLst>
              <a:gd name="adj" fmla="val 17073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374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4D"/>
                </a:solidFill>
              </a:rPr>
              <a:t>Алатау • Наурызбай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AFC"/>
                </a:solidFill>
              </a:rPr>
              <a:t>Жол/құрылыс шаңы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74920" y="33375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Вакуумды тазалау + сулау + жүк көлігін жуу + жабық алаң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10972800" cy="749808"/>
          </a:xfrm>
          <a:prstGeom prst="roundRect">
            <a:avLst>
              <a:gd name="adj" fmla="val 17073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306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D0AA"/>
                </a:solidFill>
              </a:rPr>
              <a:t>Солтүстік/төменгі қала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54680" y="4306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AFC"/>
                </a:solidFill>
              </a:rPr>
              <a:t>Инверсия / әлсіз жел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42702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Жел дәліздері + тығыз құрылысты шектеу + жасыл коридор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056632"/>
            <a:ext cx="10972800" cy="749808"/>
          </a:xfrm>
          <a:prstGeom prst="roundRect">
            <a:avLst>
              <a:gd name="adj" fmla="val 17073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239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E05B"/>
                </a:solidFill>
              </a:rPr>
              <a:t>ЖЭО-2/3 маңы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54680" y="5239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AFC"/>
                </a:solidFill>
              </a:rPr>
              <a:t>Күл үйінділері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520293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AC2"/>
                </a:solidFill>
              </a:rPr>
              <a:t>Қайта өңдеу + жабық тасымалдау + рекультивация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Алматы 2030: екі сценарий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Қала ауасының болашағы — энергетика мен көлік шешімдерінің қосындысы.</a:t>
            </a:r>
            <a:endParaRPr lang="en-US" sz="1050" dirty="0"/>
          </a:p>
        </p:txBody>
      </p:sp>
      <p:pic>
        <p:nvPicPr>
          <p:cNvPr id="4" name="Image 0" descr="/mnt/data/39ED099B-ED8F-41CD-861D-1B332440853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109728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234440"/>
            <a:ext cx="0" cy="3977640"/>
          </a:xfrm>
          <a:prstGeom prst="line">
            <a:avLst/>
          </a:prstGeom>
          <a:noFill/>
          <a:ln w="25400">
            <a:solidFill>
              <a:srgbClr val="F4FAFC">
                <a:alpha val="7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554480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FF5B5B">
              <a:alpha val="90000"/>
            </a:srgbClr>
          </a:solidFill>
          <a:ln w="12700">
            <a:solidFill>
              <a:srgbClr val="FF5B5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160934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C"/>
                </a:solidFill>
              </a:rPr>
              <a:t>ҚАЗІРГІ ТРАЕКТОРИЯ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458200" y="1554480"/>
            <a:ext cx="2057400" cy="292608"/>
          </a:xfrm>
          <a:prstGeom prst="roundRect">
            <a:avLst>
              <a:gd name="adj" fmla="val 37500"/>
            </a:avLst>
          </a:prstGeom>
          <a:solidFill>
            <a:srgbClr val="31D0AA">
              <a:alpha val="90000"/>
            </a:srgbClr>
          </a:solidFill>
          <a:ln w="12700">
            <a:solidFill>
              <a:srgbClr val="31D0A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31352" y="160934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C"/>
                </a:solidFill>
              </a:rPr>
              <a:t>ТАЗА ТРАЕКТОРИЯ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4400" y="5440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B5B"/>
                </a:solidFill>
              </a:rPr>
              <a:t>көмір + ескі көлік + қысқы инверсия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5440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D0AA"/>
                </a:solidFill>
              </a:rPr>
              <a:t>газдандыру + электр көлік + LEZ + жасыл дәліз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Іс-қимыл жол картасы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Басымдық: ең үлкен эмиссия көздерінен бастап, өлшеу арқылы нәтижені тексеру.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468880" cy="4160520"/>
          </a:xfrm>
          <a:prstGeom prst="roundRect">
            <a:avLst>
              <a:gd name="adj" fmla="val 5185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5B5B"/>
                </a:solidFill>
              </a:rPr>
              <a:t>2026–2027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423160"/>
            <a:ext cx="1645920" cy="0"/>
          </a:xfrm>
          <a:prstGeom prst="line">
            <a:avLst/>
          </a:prstGeom>
          <a:noFill/>
          <a:ln w="38100">
            <a:solidFill>
              <a:srgbClr val="FF5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ЖЭО-2/3 газдандыруды аяқтау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Жеке сектордың қатты отынын қысқарту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BAC2"/>
                </a:solidFill>
              </a:rPr>
              <a:t>Энергетика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508760"/>
            <a:ext cx="2468880" cy="4160520"/>
          </a:xfrm>
          <a:prstGeom prst="roundRect">
            <a:avLst>
              <a:gd name="adj" fmla="val 5185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D7FF"/>
                </a:solidFill>
              </a:rPr>
              <a:t>2027–2028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86200" y="2423160"/>
            <a:ext cx="1645920" cy="0"/>
          </a:xfrm>
          <a:prstGeom prst="line">
            <a:avLst/>
          </a:prstGeom>
          <a:noFill/>
          <a:ln w="38100">
            <a:solidFill>
              <a:srgbClr val="4BD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880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LEZ + экотехбақылау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Электр автобус/троллейбус үлесін өсіру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BAC2"/>
                </a:solidFill>
              </a:rPr>
              <a:t>Көлік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468880" cy="4160520"/>
          </a:xfrm>
          <a:prstGeom prst="roundRect">
            <a:avLst>
              <a:gd name="adj" fmla="val 5185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84D"/>
                </a:solidFill>
              </a:rPr>
              <a:t>2028–2029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5120" y="2423160"/>
            <a:ext cx="1645920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880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Құрылыс және жол шаңын басқару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Жел дәліздерін қорғау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BAC2"/>
                </a:solidFill>
              </a:rPr>
              <a:t>Қала құрылысы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508760"/>
            <a:ext cx="2468880" cy="4160520"/>
          </a:xfrm>
          <a:prstGeom prst="roundRect">
            <a:avLst>
              <a:gd name="adj" fmla="val 5185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D0AA"/>
                </a:solidFill>
              </a:rPr>
              <a:t>ТҰРАҚТЫ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464040" y="2423160"/>
            <a:ext cx="1645920" cy="0"/>
          </a:xfrm>
          <a:prstGeom prst="line">
            <a:avLst/>
          </a:prstGeom>
          <a:noFill/>
          <a:ln w="38100">
            <a:solidFill>
              <a:srgbClr val="31D0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2880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Аудандық PM2.5/NO₂ мониторингі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AFC"/>
                </a:solidFill>
              </a:rPr>
              <a:t>Ашық дерек + KPI + аудит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BAC2"/>
                </a:solidFill>
              </a:rPr>
              <a:t>Өлшеу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Қорытынды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Алматы ауасын жақсартудың ең үлкен әсері үш бағыттың бір мезгілде орындалуынан келеді.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0607040" cy="1051560"/>
          </a:xfrm>
          <a:prstGeom prst="roundRect">
            <a:avLst>
              <a:gd name="adj" fmla="val 12174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81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5B5B"/>
                </a:solidFill>
              </a:rPr>
              <a:t>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ЭНЕРГЕТИКА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86200" y="15727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AC2"/>
                </a:solidFill>
              </a:rPr>
              <a:t>ЖЭО-2/3 көмірден газға → PM, SO₂, күл күрт төмендейді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770632"/>
            <a:ext cx="10607040" cy="1051560"/>
          </a:xfrm>
          <a:prstGeom prst="roundRect">
            <a:avLst>
              <a:gd name="adj" fmla="val 12174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935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BD7FF"/>
                </a:solidFill>
              </a:rPr>
              <a:t>02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828800" y="2953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КӨЛІК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86200" y="29260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AC2"/>
                </a:solidFill>
              </a:rPr>
              <a:t>Электр қоғамдық көлік + LEZ + бақылау → NO₂/CO/PM төмендейді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123944"/>
            <a:ext cx="10607040" cy="1051560"/>
          </a:xfrm>
          <a:prstGeom prst="roundRect">
            <a:avLst>
              <a:gd name="adj" fmla="val 12174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2885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1D0AA"/>
                </a:solidFill>
              </a:rPr>
              <a:t>03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828800" y="43068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AFC"/>
                </a:solidFill>
              </a:rPr>
              <a:t>ҚАЛА ОРТАСЫ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427939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AC2"/>
                </a:solidFill>
              </a:rPr>
              <a:t>Шаңды басқару + жел дәліздері + жасыл инфрақұрылым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" y="58064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D0AA"/>
                </a:solidFill>
              </a:rPr>
              <a:t>ТАЗА АУА = ДЕНІ САУ ҚОҒАМ + ТҰРАҚТЫ ҚАЛА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AFC"/>
                </a:solidFill>
              </a:rPr>
              <a:t>Дереккөздер және әдістемелік ескерту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AC2"/>
                </a:solidFill>
              </a:rPr>
              <a:t>Негізгі статистикалық кезең — 2025; 2026 жылғы қолжетімді ресми жаңартулар қосылды.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4526280"/>
          </a:xfrm>
          <a:prstGeom prst="roundRect">
            <a:avLst>
              <a:gd name="adj" fmla="val 2828"/>
            </a:avLst>
          </a:prstGeom>
          <a:solidFill>
            <a:srgbClr val="0E2029">
              <a:alpha val="98000"/>
            </a:srgbClr>
          </a:solidFill>
          <a:ln w="12700">
            <a:solidFill>
              <a:srgbClr val="1B394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D0AA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AFC"/>
                </a:solidFill>
              </a:rPr>
              <a:t>Air Quality Institute (AAI) — 2025 аудандық PM2.5 сенсорлық мониторингі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350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D0AA"/>
                </a:solidFill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232257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AFC"/>
                </a:solidFill>
              </a:rPr>
              <a:t>Алматы қ. санитариялық-эпидемиологиялық бақылау департаменті — 2025 ауа мониторингі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0083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D0AA"/>
                </a:solidFill>
              </a:rPr>
              <a:t>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98094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AFC"/>
                </a:solidFill>
              </a:rPr>
              <a:t>Қазгидромет — 2025 жылғы Алматы атмосфералық ауа сапасы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6667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D0AA"/>
                </a:solidFill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363931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AFC"/>
                </a:solidFill>
              </a:rPr>
              <a:t>АлЭС — 2025 табиғат қорғау қызметі және ЖЭО шығарындылары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3251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D0AA"/>
                </a:solidFill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42976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AFC"/>
                </a:solidFill>
              </a:rPr>
              <a:t>ҚР Энергетика министрлігі / Алматы әкімдігі — ЖЭО-2/3 газдандыру жобалары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84D"/>
                </a:solidFill>
              </a:rPr>
              <a:t>Маңызды: аудандық PM2.5, санитариялық ШРК сынамалары және ЖЭО валдық шығарындылары әртүрлі әдістемелер. Оларды бір шкалаға тікелей қосуға болмайды.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92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Алматы ауасы</dc:title>
  <dc:subject>Алматы қаласының аудандарындағы ауаның ластану деңгейі</dc:subject>
  <dc:creator>OpenAI</dc:creator>
  <cp:lastModifiedBy>OpenAI</cp:lastModifiedBy>
  <cp:revision>1</cp:revision>
  <dcterms:created xsi:type="dcterms:W3CDTF">2026-09-14T09:26:20Z</dcterms:created>
  <dcterms:modified xsi:type="dcterms:W3CDTF">2026-09-14T09:26:20Z</dcterms:modified>
</cp:coreProperties>
</file>